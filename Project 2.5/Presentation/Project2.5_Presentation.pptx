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jfG6Vw1gN9KLEWGH5EogpDbgrr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drive.google.com/file/d/13-kRWRK0ri79mT2fveO6WjSoQWWn_2JP/view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lE57TFjJW_NduzDlI5-QV0oRaV68tSZy/view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YV49ZNqm-VQjBQ0h8qihhwTCSHtJ4M7R/view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4MqBidxsb0a2ZsTzwt47xz3yX1z1O5tP/view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Q8WCcfWvhLRuQ2bFKxoSEJsia-0t9ViT/view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ojSK2VxMVfeOiH765OF1UJRO6xEpFCgH/view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wMdL2IuNyNSHb4yVYNw7tovh9G6TX1Om/view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5jz33YT9zc5_dShuuTgFvSdI-YxEbkpo/view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rzSaTswuPPUjvJV5I36sCi2Cip_5W8MT/view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9-DQw8mC7SWURVV_cqL8jYVpZVPoCUs8/view" TargetMode="External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56jS2Ldj82BAK1VlcjTlxaYOxt-3T4xY/view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lv65L1wBEMc7_YDhv_ASKGTW3ixcyB_R/view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2286000"/>
            <a:ext cx="73152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Prestige Cars Database Normalization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3840480"/>
            <a:ext cx="731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2711C"/>
                </a:solidFill>
                <a:latin typeface="Calibri"/>
                <a:ea typeface="Calibri"/>
                <a:cs typeface="Calibri"/>
                <a:sym typeface="Calibri"/>
              </a:rPr>
              <a:t>Project 2.5 - Group </a:t>
            </a:r>
            <a:r>
              <a:rPr lang="en-US" sz="2400">
                <a:solidFill>
                  <a:srgbClr val="F2711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F2711C"/>
                </a:solidFill>
                <a:latin typeface="Calibri"/>
                <a:ea typeface="Calibri"/>
                <a:cs typeface="Calibri"/>
                <a:sym typeface="Calibri"/>
              </a:rPr>
              <a:t> - CSCI 331</a:t>
            </a:r>
            <a:endParaRPr/>
          </a:p>
        </p:txBody>
      </p:sp>
      <p:pic>
        <p:nvPicPr>
          <p:cNvPr id="87" name="Google Shape;87;p1" title="v1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9600" y="6080550"/>
            <a:ext cx="651150" cy="6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57200" y="274320"/>
            <a:ext cx="8229600" cy="640080"/>
          </a:xfrm>
          <a:prstGeom prst="roundRect">
            <a:avLst>
              <a:gd fmla="val 15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Team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640080" y="1188720"/>
            <a:ext cx="3657600" cy="548640"/>
          </a:xfrm>
          <a:prstGeom prst="roundRect">
            <a:avLst>
              <a:gd fmla="val 20000" name="adj"/>
            </a:avLst>
          </a:prstGeom>
          <a:solidFill>
            <a:srgbClr val="F271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Person 1: Andrew Laboy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4572000" y="1188720"/>
            <a:ext cx="3931920" cy="548640"/>
          </a:xfrm>
          <a:prstGeom prst="roundRect">
            <a:avLst>
              <a:gd fmla="val 20000" name="adj"/>
            </a:avLst>
          </a:prstGeom>
          <a:solidFill>
            <a:srgbClr val="64646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Project Manager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640080" y="1874520"/>
            <a:ext cx="3657600" cy="54864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 2: Haroon Ahmed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4572000" y="1874520"/>
            <a:ext cx="3931920" cy="548640"/>
          </a:xfrm>
          <a:prstGeom prst="roundRect">
            <a:avLst>
              <a:gd fmla="val 20000" name="adj"/>
            </a:avLst>
          </a:prstGeom>
          <a:solidFill>
            <a:srgbClr val="64646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UDT Architect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640080" y="2560320"/>
            <a:ext cx="3657600" cy="54864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 3: Zhenkai Gao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4572000" y="2560320"/>
            <a:ext cx="3931920" cy="548640"/>
          </a:xfrm>
          <a:prstGeom prst="roundRect">
            <a:avLst>
              <a:gd fmla="val 20000" name="adj"/>
            </a:avLst>
          </a:prstGeom>
          <a:solidFill>
            <a:srgbClr val="64646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Customer/Sales Tables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640080" y="3246120"/>
            <a:ext cx="3657600" cy="54864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 4: Azm Karim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4572000" y="3246120"/>
            <a:ext cx="3931920" cy="548640"/>
          </a:xfrm>
          <a:prstGeom prst="roundRect">
            <a:avLst>
              <a:gd fmla="val 20000" name="adj"/>
            </a:avLst>
          </a:prstGeom>
          <a:solidFill>
            <a:srgbClr val="64646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Make/Model/Stock Tables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640080" y="3931920"/>
            <a:ext cx="3657600" cy="54864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 5: Kazi Islam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4572000" y="3931920"/>
            <a:ext cx="3931920" cy="548640"/>
          </a:xfrm>
          <a:prstGeom prst="roundRect">
            <a:avLst>
              <a:gd fmla="val 20000" name="adj"/>
            </a:avLst>
          </a:prstGeom>
          <a:solidFill>
            <a:srgbClr val="64646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Country/SalesDetails Tables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640080" y="4617720"/>
            <a:ext cx="3657600" cy="54864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 6: Mohamed Awad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4572000" y="4617720"/>
            <a:ext cx="3931920" cy="548640"/>
          </a:xfrm>
          <a:prstGeom prst="roundRect">
            <a:avLst>
              <a:gd fmla="val 20000" name="adj"/>
            </a:avLst>
          </a:prstGeom>
          <a:solidFill>
            <a:srgbClr val="64646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Views Part 1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640080" y="5303520"/>
            <a:ext cx="3657600" cy="54864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 7: Ralph Cange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4572000" y="5303520"/>
            <a:ext cx="3931920" cy="548640"/>
          </a:xfrm>
          <a:prstGeom prst="roundRect">
            <a:avLst>
              <a:gd fmla="val 20000" name="adj"/>
            </a:avLst>
          </a:prstGeom>
          <a:solidFill>
            <a:srgbClr val="64646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Views Part 2</a:t>
            </a:r>
            <a:endParaRPr/>
          </a:p>
        </p:txBody>
      </p:sp>
      <p:pic>
        <p:nvPicPr>
          <p:cNvPr id="109" name="Google Shape;109;p2" title="v2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6725" y="5943600"/>
            <a:ext cx="640075" cy="6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457200" y="274320"/>
            <a:ext cx="8229600" cy="640080"/>
          </a:xfrm>
          <a:prstGeom prst="roundRect">
            <a:avLst>
              <a:gd fmla="val 15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640080" y="1188720"/>
            <a:ext cx="7863900" cy="53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Objective:</a:t>
            </a:r>
            <a:endParaRPr b="1" sz="16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Transform a denormalized database into 3NF (Third Normal Form) 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with full UDT coverage, referential integrity, and optimized views.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Scope:</a:t>
            </a:r>
            <a:endParaRPr b="1" sz="16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• 24 original tables → 7 normalized tables + 17 views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• Zero User-Defined Types → 20 UDTs (100% coverage)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• No foreign keys → 12 FK relationships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• Missing constraints → 30+ constraints added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Methodology:</a:t>
            </a:r>
            <a:endParaRPr b="1" sz="16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1. Infrastructure setup (Process &amp; DbSecurity schemas)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2. Create 20 User-Defined Types (blocks all team members)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3. Normalize core tables in dependency order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4. Replace redundant tables with views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5. Full integration testing &amp; backup</a:t>
            </a:r>
            <a:endParaRPr/>
          </a:p>
        </p:txBody>
      </p:sp>
      <p:pic>
        <p:nvPicPr>
          <p:cNvPr id="118" name="Google Shape;118;p3" title="v3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7125" y="6035700"/>
            <a:ext cx="640075" cy="6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57200" y="274320"/>
            <a:ext cx="8229600" cy="640080"/>
          </a:xfrm>
          <a:prstGeom prst="roundRect">
            <a:avLst>
              <a:gd fmla="val 15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vs. After Comparison</a:t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640080" y="1280160"/>
            <a:ext cx="3840480" cy="4846320"/>
          </a:xfrm>
          <a:prstGeom prst="roundRect">
            <a:avLst>
              <a:gd fmla="val 20000" name="adj"/>
            </a:avLst>
          </a:prstGeom>
          <a:solidFill>
            <a:srgbClr val="B432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24 physical tables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No User-Defined Types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5 tables without PKs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0 foreign key relationships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Massive data duplication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SalesRegion repeated 100+ times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Poor data integrity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No constraints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Difficult maintenance</a:t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4663440" y="1280160"/>
            <a:ext cx="3840480" cy="4846320"/>
          </a:xfrm>
          <a:prstGeom prst="roundRect">
            <a:avLst>
              <a:gd fmla="val 20000" name="adj"/>
            </a:avLst>
          </a:prstGeom>
          <a:solidFill>
            <a:srgbClr val="3296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7 normalized tables (3NF)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20 User-Defined Types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All PKs properly defined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12 foreign key relationships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Zero data duplication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17 views replacing tables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Strong referential integrity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30+ constraints (CHECK, UNIQUE)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40% storage reduction</a:t>
            </a:r>
            <a:endParaRPr/>
          </a:p>
        </p:txBody>
      </p:sp>
      <p:pic>
        <p:nvPicPr>
          <p:cNvPr id="128" name="Google Shape;128;p4" title="v4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8925" y="6126475"/>
            <a:ext cx="640075" cy="6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57200" y="274320"/>
            <a:ext cx="8229600" cy="640080"/>
          </a:xfrm>
          <a:prstGeom prst="roundRect">
            <a:avLst>
              <a:gd fmla="val 15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User-Defined Types (20 Total)</a:t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40080" y="1280160"/>
            <a:ext cx="2011680" cy="457200"/>
          </a:xfrm>
          <a:prstGeom prst="roundRect">
            <a:avLst>
              <a:gd fmla="val 20000" name="adj"/>
            </a:avLst>
          </a:prstGeom>
          <a:solidFill>
            <a:srgbClr val="F271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Surrogate Keys</a:t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2834640" y="1280160"/>
            <a:ext cx="5669280" cy="4572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SurrogateKeyInt, SurrogateKeySmallInt</a:t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640080" y="1920240"/>
            <a:ext cx="2011680" cy="457200"/>
          </a:xfrm>
          <a:prstGeom prst="roundRect">
            <a:avLst>
              <a:gd fmla="val 20000" name="adj"/>
            </a:avLst>
          </a:prstGeom>
          <a:solidFill>
            <a:srgbClr val="F271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Names &amp; Text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2834640" y="1920240"/>
            <a:ext cx="5669280" cy="4572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CustomerName, CountryName, MakeName, ModelName, AddressLine, TownName, PostCode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640080" y="2560320"/>
            <a:ext cx="2011680" cy="457200"/>
          </a:xfrm>
          <a:prstGeom prst="roundRect">
            <a:avLst>
              <a:gd fmla="val 20000" name="adj"/>
            </a:avLst>
          </a:prstGeom>
          <a:solidFill>
            <a:srgbClr val="F271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Domain Codes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2834640" y="2560320"/>
            <a:ext cx="5669280" cy="4572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ISO2, ISO3, YearString, InvoiceNumber, CustomerCode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640080" y="3200400"/>
            <a:ext cx="2011680" cy="457200"/>
          </a:xfrm>
          <a:prstGeom prst="roundRect">
            <a:avLst>
              <a:gd fmla="val 20000" name="adj"/>
            </a:avLst>
          </a:prstGeom>
          <a:solidFill>
            <a:srgbClr val="F271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Money &amp; Prices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2834640" y="3200400"/>
            <a:ext cx="5669280" cy="4572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MoneyAmount, SalesPrice</a:t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640080" y="3840480"/>
            <a:ext cx="2011680" cy="457200"/>
          </a:xfrm>
          <a:prstGeom prst="roundRect">
            <a:avLst>
              <a:gd fmla="val 20000" name="adj"/>
            </a:avLst>
          </a:prstGeom>
          <a:solidFill>
            <a:srgbClr val="F271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Vehicle-Specific</a:t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2834640" y="3840480"/>
            <a:ext cx="5669280" cy="4572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StockCode, ColorName, LongNotes, MakeCountryCode</a:t>
            </a:r>
            <a:endParaRPr/>
          </a:p>
        </p:txBody>
      </p:sp>
      <p:pic>
        <p:nvPicPr>
          <p:cNvPr id="146" name="Google Shape;146;p5" title="v5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5950" y="5968650"/>
            <a:ext cx="640075" cy="6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57200" y="274320"/>
            <a:ext cx="8229600" cy="640080"/>
          </a:xfrm>
          <a:prstGeom prst="roundRect">
            <a:avLst>
              <a:gd fmla="val 15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 Core Normalized Tables (3NF)</a:t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640080" y="1280160"/>
            <a:ext cx="2743200" cy="50292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Data.SalesRegion</a:t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3566160" y="1280160"/>
            <a:ext cx="4937760" cy="50292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3 regions (Asia, EMEA, North America)</a:t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640080" y="1920240"/>
            <a:ext cx="2743200" cy="50292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Data.Country</a:t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3566160" y="1920240"/>
            <a:ext cx="4937760" cy="50292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10 countries with ISO2/ISO3 codes → SalesRegion FK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640080" y="2560320"/>
            <a:ext cx="2743200" cy="50292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Data.Customer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3566160" y="2560320"/>
            <a:ext cx="4937760" cy="50292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88 customers with addresses → Country FK</a:t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640080" y="3200400"/>
            <a:ext cx="2743200" cy="50292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Data.Make</a:t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3566160" y="3200400"/>
            <a:ext cx="4937760" cy="50292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26 makes → Country FK</a:t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640080" y="3840480"/>
            <a:ext cx="2743200" cy="50292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Data.Model</a:t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3566160" y="3840480"/>
            <a:ext cx="4937760" cy="50292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100 models → Make FK</a:t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640080" y="4480560"/>
            <a:ext cx="2743200" cy="50292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Data.Stock</a:t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3566160" y="4480560"/>
            <a:ext cx="4937760" cy="50292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395 stock items → Model FK (UNIQUE StockCode)</a:t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640080" y="5120640"/>
            <a:ext cx="2743200" cy="50292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Data.Sales</a:t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3566160" y="5120640"/>
            <a:ext cx="4937760" cy="50292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324 sales → Customer FK</a:t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640080" y="5760720"/>
            <a:ext cx="2743200" cy="50292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Data.SalesDetails</a:t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3566160" y="5760720"/>
            <a:ext cx="4937760" cy="50292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351 line items → Sales FK, Stock FK</a:t>
            </a:r>
            <a:endParaRPr/>
          </a:p>
        </p:txBody>
      </p:sp>
      <p:pic>
        <p:nvPicPr>
          <p:cNvPr id="170" name="Google Shape;170;p6" title="v6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1850" y="6080775"/>
            <a:ext cx="640075" cy="6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57200" y="274320"/>
            <a:ext cx="8229600" cy="640080"/>
          </a:xfrm>
          <a:prstGeom prst="roundRect">
            <a:avLst>
              <a:gd fmla="val 15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 Views Replacing Redundant Tables</a:t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640080" y="1280160"/>
            <a:ext cx="3200400" cy="548640"/>
          </a:xfrm>
          <a:prstGeom prst="roundRect">
            <a:avLst>
              <a:gd fmla="val 20000" name="adj"/>
            </a:avLst>
          </a:prstGeom>
          <a:solidFill>
            <a:srgbClr val="F271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DataTransfer.Sales2015-2018</a:t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023360" y="1280160"/>
            <a:ext cx="448056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4 yearly sales aggregation views</a:t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640080" y="2057400"/>
            <a:ext cx="3200400" cy="548640"/>
          </a:xfrm>
          <a:prstGeom prst="roundRect">
            <a:avLst>
              <a:gd fmla="val 20000" name="adj"/>
            </a:avLst>
          </a:prstGeom>
          <a:solidFill>
            <a:srgbClr val="F271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Output.StockPrices</a:t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4023360" y="2057400"/>
            <a:ext cx="448056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Stock pricing by make/model</a:t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640080" y="2834640"/>
            <a:ext cx="3200400" cy="548640"/>
          </a:xfrm>
          <a:prstGeom prst="roundRect">
            <a:avLst>
              <a:gd fmla="val 20000" name="adj"/>
            </a:avLst>
          </a:prstGeom>
          <a:solidFill>
            <a:srgbClr val="F271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Reference.SalesCategory</a:t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4023360" y="2834640"/>
            <a:ext cx="448056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Price bucket categorization</a:t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640080" y="3611880"/>
            <a:ext cx="3200400" cy="548640"/>
          </a:xfrm>
          <a:prstGeom prst="roundRect">
            <a:avLst>
              <a:gd fmla="val 20000" name="adj"/>
            </a:avLst>
          </a:prstGeom>
          <a:solidFill>
            <a:srgbClr val="F271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Reference.StaffHierarchy</a:t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4023360" y="3611880"/>
            <a:ext cx="448056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Recursive CTE for management chain</a:t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640080" y="4389120"/>
            <a:ext cx="3200400" cy="548640"/>
          </a:xfrm>
          <a:prstGeom prst="roundRect">
            <a:avLst>
              <a:gd fmla="val 20000" name="adj"/>
            </a:avLst>
          </a:prstGeom>
          <a:solidFill>
            <a:srgbClr val="F271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Reference.YearlySales</a:t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4023360" y="4389120"/>
            <a:ext cx="448056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Annual sales totals &amp; statistics</a:t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40080" y="5166360"/>
            <a:ext cx="3200400" cy="548640"/>
          </a:xfrm>
          <a:prstGeom prst="roundRect">
            <a:avLst>
              <a:gd fmla="val 20000" name="adj"/>
            </a:avLst>
          </a:prstGeom>
          <a:solidFill>
            <a:srgbClr val="F271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SourceData.SalesInPounds</a:t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023360" y="5166360"/>
            <a:ext cx="448056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Currency-converted sales</a:t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640080" y="5943600"/>
            <a:ext cx="3200400" cy="548640"/>
          </a:xfrm>
          <a:prstGeom prst="roundRect">
            <a:avLst>
              <a:gd fmla="val 20000" name="adj"/>
            </a:avLst>
          </a:prstGeom>
          <a:solidFill>
            <a:srgbClr val="F271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SourceData.SalesText</a:t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4023360" y="5943600"/>
            <a:ext cx="448056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Natural language sale descriptions</a:t>
            </a:r>
            <a:endParaRPr/>
          </a:p>
        </p:txBody>
      </p:sp>
      <p:pic>
        <p:nvPicPr>
          <p:cNvPr id="192" name="Google Shape;192;p7" title="v7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6425" y="6137000"/>
            <a:ext cx="594700" cy="59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57200" y="274320"/>
            <a:ext cx="8229600" cy="640080"/>
          </a:xfrm>
          <a:prstGeom prst="roundRect">
            <a:avLst>
              <a:gd fmla="val 15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Technical Achievements</a:t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640080" y="1280160"/>
            <a:ext cx="7863840" cy="64008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 UDT Coverage: All 7 tables use User-Defined Types for every applicable column</a:t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640080" y="2057400"/>
            <a:ext cx="7863840" cy="64008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 Foreign Keys: Complete referential integrity across all normalized tables</a:t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640080" y="2834640"/>
            <a:ext cx="7863840" cy="64008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30+ Constraints: CHECK, UNIQUE, DEFAULT constraints enforce business rules</a:t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640080" y="3611880"/>
            <a:ext cx="7863840" cy="64008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 Fix: Stock.StockCode UNIQUE constraint enables SalesDetails FK</a:t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640080" y="4389120"/>
            <a:ext cx="7863840" cy="64008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Recursive CTE: StaffHierarchy view demonstrates advanced SQL techniques</a:t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640080" y="5166360"/>
            <a:ext cx="7863840" cy="64008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 Duplication: SalesRegion example: 100+ repetitions → 3 normalized rows</a:t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640080" y="5943600"/>
            <a:ext cx="7863840" cy="64008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40% Storage Reduction: Eliminated redundant data through normalization</a:t>
            </a:r>
            <a:endParaRPr/>
          </a:p>
        </p:txBody>
      </p:sp>
      <p:pic>
        <p:nvPicPr>
          <p:cNvPr id="207" name="Google Shape;207;p8" title="v8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1025" y="6035700"/>
            <a:ext cx="640100" cy="64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57200" y="274320"/>
            <a:ext cx="8229600" cy="640080"/>
          </a:xfrm>
          <a:prstGeom prst="roundRect">
            <a:avLst>
              <a:gd fmla="val 15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Integration Workflow &amp; Dependencies</a:t>
            </a:r>
            <a:endParaRPr/>
          </a:p>
        </p:txBody>
      </p:sp>
      <p:sp>
        <p:nvSpPr>
          <p:cNvPr id="215" name="Google Shape;215;p9"/>
          <p:cNvSpPr txBox="1"/>
          <p:nvPr/>
        </p:nvSpPr>
        <p:spPr>
          <a:xfrm>
            <a:off x="640080" y="1188720"/>
            <a:ext cx="7863900" cy="4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Execution Order (Critical Dependencies):</a:t>
            </a:r>
            <a:endParaRPr b="1" sz="1400">
              <a:solidFill>
                <a:srgbClr val="1C37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Phase 1: Infrastructure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  → Person 1: Process &amp; DbSecurity schemas</a:t>
            </a:r>
            <a:endParaRPr sz="1400">
              <a:solidFill>
                <a:srgbClr val="1C37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Phase 2: Foundation (BLOCKS ALL)</a:t>
            </a:r>
            <a:endParaRPr b="1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  → Person 2: 2</a:t>
            </a:r>
            <a:r>
              <a:rPr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 UDTs - Everyone waits for this!</a:t>
            </a:r>
            <a:endParaRPr sz="1400">
              <a:solidFill>
                <a:srgbClr val="1C37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Phase 3: Country Normalization (BLOCKS Person 3 &amp; 4)</a:t>
            </a:r>
            <a:endParaRPr b="1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  → Person 5 Day 3: SalesRegion + Country tables</a:t>
            </a:r>
            <a:endParaRPr sz="1400">
              <a:solidFill>
                <a:srgbClr val="1C37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Phase 4: Parallel Execution</a:t>
            </a:r>
            <a:endParaRPr b="1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  → Person 3: Customer &amp; Sales (needs Country)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  → Person 4: Make, Model, Stock (needs Country + UNIQUE fix!)</a:t>
            </a:r>
            <a:endParaRPr sz="1400">
              <a:solidFill>
                <a:srgbClr val="1C37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Phase 5: SalesDetails (REQUIRES Person 3 &amp; 4 complete)</a:t>
            </a:r>
            <a:endParaRPr b="1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  → Person 5 Day 4-5: SalesDetails table</a:t>
            </a:r>
            <a:endParaRPr sz="1400">
              <a:solidFill>
                <a:srgbClr val="1C37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Phase 6-7: Views</a:t>
            </a:r>
            <a:endParaRPr b="1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  → Person 6: Yearly sales + StockPrices views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  → Person 7: Reference &amp; SourceData views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Phase 8: Final Delivery</a:t>
            </a:r>
            <a:endParaRPr b="1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  → Database backup (.bak file)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  → Integration testing &amp; verification</a:t>
            </a:r>
            <a:endParaRPr/>
          </a:p>
        </p:txBody>
      </p:sp>
      <p:pic>
        <p:nvPicPr>
          <p:cNvPr id="216" name="Google Shape;216;p9" title="v9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1050" y="5957475"/>
            <a:ext cx="640075" cy="6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57200" y="274320"/>
            <a:ext cx="8229600" cy="640080"/>
          </a:xfrm>
          <a:prstGeom prst="roundRect">
            <a:avLst>
              <a:gd fmla="val 15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Statistics</a:t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640080" y="1280160"/>
            <a:ext cx="3840480" cy="640080"/>
          </a:xfrm>
          <a:prstGeom prst="roundRect">
            <a:avLst>
              <a:gd fmla="val 20000" name="adj"/>
            </a:avLst>
          </a:prstGeom>
          <a:solidFill>
            <a:srgbClr val="F271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Team Size: 7 members</a:t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640080" y="2057400"/>
            <a:ext cx="3840480" cy="64008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SQL Files: 8 files (7 team + 1 master)</a:t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640080" y="2834640"/>
            <a:ext cx="3840480" cy="640080"/>
          </a:xfrm>
          <a:prstGeom prst="roundRect">
            <a:avLst>
              <a:gd fmla="val 20000" name="adj"/>
            </a:avLst>
          </a:prstGeom>
          <a:solidFill>
            <a:srgbClr val="F271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Lines of Code: ~2,500 lines</a:t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40080" y="3611880"/>
            <a:ext cx="3840480" cy="64008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Development Time: ~60 hours</a:t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640080" y="4389120"/>
            <a:ext cx="3840480" cy="640080"/>
          </a:xfrm>
          <a:prstGeom prst="roundRect">
            <a:avLst>
              <a:gd fmla="val 20000" name="adj"/>
            </a:avLst>
          </a:prstGeom>
          <a:solidFill>
            <a:srgbClr val="F271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UDTs Created: 20</a:t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640080" y="5166360"/>
            <a:ext cx="3840480" cy="64008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Tables Normalized: 7 core tables</a:t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663440" y="1280160"/>
            <a:ext cx="3840480" cy="640080"/>
          </a:xfrm>
          <a:prstGeom prst="roundRect">
            <a:avLst>
              <a:gd fmla="val 20000" name="adj"/>
            </a:avLst>
          </a:prstGeom>
          <a:solidFill>
            <a:srgbClr val="F271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Views Created: 17</a:t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4663440" y="2057400"/>
            <a:ext cx="3840480" cy="64008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Constraints Added: 30+</a:t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4663440" y="2834640"/>
            <a:ext cx="3840480" cy="640080"/>
          </a:xfrm>
          <a:prstGeom prst="roundRect">
            <a:avLst>
              <a:gd fmla="val 20000" name="adj"/>
            </a:avLst>
          </a:prstGeom>
          <a:solidFill>
            <a:srgbClr val="F271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Foreign Keys: 12</a:t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4663440" y="3611880"/>
            <a:ext cx="3840480" cy="64008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Storage Reduction: 40%</a:t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4663440" y="4389120"/>
            <a:ext cx="3840480" cy="640080"/>
          </a:xfrm>
          <a:prstGeom prst="roundRect">
            <a:avLst>
              <a:gd fmla="val 20000" name="adj"/>
            </a:avLst>
          </a:prstGeom>
          <a:solidFill>
            <a:srgbClr val="F271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C375A"/>
                </a:solidFill>
                <a:latin typeface="Calibri"/>
                <a:ea typeface="Calibri"/>
                <a:cs typeface="Calibri"/>
                <a:sym typeface="Calibri"/>
              </a:rPr>
              <a:t>Data Integrity: 100% (0 violations)</a:t>
            </a:r>
            <a:endParaRPr/>
          </a:p>
        </p:txBody>
      </p:sp>
      <p:pic>
        <p:nvPicPr>
          <p:cNvPr id="235" name="Google Shape;235;p10" title="v10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8175" y="5914775"/>
            <a:ext cx="548625" cy="54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57200" y="274320"/>
            <a:ext cx="8229600" cy="640080"/>
          </a:xfrm>
          <a:prstGeom prst="roundRect">
            <a:avLst>
              <a:gd fmla="val 15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Deliverables</a:t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1371600" y="1645920"/>
            <a:ext cx="6400800" cy="54864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11 SQL Files (8 scripts + master + original + README)</a:t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1371600" y="2423160"/>
            <a:ext cx="6400800" cy="54864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PrestigeCars_Final_Project25.bak (complete database backup)</a:t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1371600" y="3200400"/>
            <a:ext cx="6400800" cy="54864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MASTER_Integration_Script.sql (automated deployment)</a:t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1371600" y="3977640"/>
            <a:ext cx="6400800" cy="54864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README.txt (comprehensive documentation)</a:t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1371600" y="4754880"/>
            <a:ext cx="6400800" cy="54864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This PowerPoint presentation with voice annotation</a:t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1371600" y="5532120"/>
            <a:ext cx="6400800" cy="548640"/>
          </a:xfrm>
          <a:prstGeom prst="roundRect">
            <a:avLst>
              <a:gd fmla="val 20000" name="adj"/>
            </a:avLst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GitHub repository with complete project files</a:t>
            </a:r>
            <a:endParaRPr/>
          </a:p>
        </p:txBody>
      </p:sp>
      <p:pic>
        <p:nvPicPr>
          <p:cNvPr id="249" name="Google Shape;249;p11" title="v11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8950" y="5902250"/>
            <a:ext cx="706475" cy="706475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"/>
          <p:cNvSpPr/>
          <p:nvPr/>
        </p:nvSpPr>
        <p:spPr>
          <a:xfrm>
            <a:off x="65150" y="206325"/>
            <a:ext cx="9144000" cy="6858000"/>
          </a:xfrm>
          <a:prstGeom prst="rect">
            <a:avLst/>
          </a:prstGeom>
          <a:solidFill>
            <a:srgbClr val="1C3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 txBox="1"/>
          <p:nvPr/>
        </p:nvSpPr>
        <p:spPr>
          <a:xfrm>
            <a:off x="914400" y="2953900"/>
            <a:ext cx="7315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/>
          </a:p>
        </p:txBody>
      </p:sp>
      <p:pic>
        <p:nvPicPr>
          <p:cNvPr id="256" name="Google Shape;256;p12" title="v12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3850" y="6036375"/>
            <a:ext cx="672950" cy="67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